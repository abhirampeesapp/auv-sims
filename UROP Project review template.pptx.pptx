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To change the  image on this slide, select the picture and delete it. Then click the Pictures icon in the placeholder to insert your own image.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299537" y="1733359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619812"/>
            <a:chOff x="0" y="0"/>
            <a:chExt cx="24384000" cy="2159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9762"/>
                  </a:lnTo>
                  <a:lnTo>
                    <a:pt x="0" y="2159762"/>
                  </a:lnTo>
                  <a:close/>
                </a:path>
              </a:pathLst>
            </a:custGeom>
            <a:solidFill>
              <a:srgbClr val="A5B59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988820" y="0"/>
            <a:ext cx="2621290" cy="3438144"/>
            <a:chOff x="0" y="0"/>
            <a:chExt cx="3495053" cy="4584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5040" cy="4584192"/>
            </a:xfrm>
            <a:custGeom>
              <a:avLst/>
              <a:gdLst/>
              <a:ahLst/>
              <a:cxnLst/>
              <a:rect r="r" b="b" t="t" l="l"/>
              <a:pathLst>
                <a:path h="4584192" w="3495040">
                  <a:moveTo>
                    <a:pt x="0" y="0"/>
                  </a:moveTo>
                  <a:lnTo>
                    <a:pt x="3495040" y="0"/>
                  </a:lnTo>
                  <a:lnTo>
                    <a:pt x="3495040" y="4584192"/>
                  </a:lnTo>
                  <a:lnTo>
                    <a:pt x="0" y="4584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3055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44" y="8858890"/>
            <a:ext cx="18373713" cy="57082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14287" y="8763509"/>
            <a:ext cx="18316574" cy="19181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8986884"/>
            <a:ext cx="18288000" cy="1619812"/>
            <a:chOff x="0" y="0"/>
            <a:chExt cx="24384000" cy="21597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9762"/>
                  </a:lnTo>
                  <a:lnTo>
                    <a:pt x="0" y="2159762"/>
                  </a:lnTo>
                  <a:close/>
                </a:path>
              </a:pathLst>
            </a:custGeom>
            <a:solidFill>
              <a:srgbClr val="A5B59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65162" y="1919257"/>
            <a:ext cx="14033784" cy="4073246"/>
            <a:chOff x="0" y="0"/>
            <a:chExt cx="18711712" cy="54309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711709" cy="5430989"/>
            </a:xfrm>
            <a:custGeom>
              <a:avLst/>
              <a:gdLst/>
              <a:ahLst/>
              <a:cxnLst/>
              <a:rect r="r" b="b" t="t" l="l"/>
              <a:pathLst>
                <a:path h="5430989" w="18711709">
                  <a:moveTo>
                    <a:pt x="0" y="0"/>
                  </a:moveTo>
                  <a:lnTo>
                    <a:pt x="18711709" y="0"/>
                  </a:lnTo>
                  <a:lnTo>
                    <a:pt x="18711709" y="5430989"/>
                  </a:lnTo>
                  <a:lnTo>
                    <a:pt x="0" y="54309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55" r="14905" b="20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8711712" cy="5392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35"/>
                </a:lnSpc>
              </a:pPr>
              <a:r>
                <a:rPr lang="en-US" sz="66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Fish-Inspired Binocular Vision System for Wide-Field Underwater Perception in Bionic Robotic Fish</a:t>
              </a:r>
            </a:p>
            <a:p>
              <a:pPr algn="l">
                <a:lnSpc>
                  <a:spcPts val="712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1139" y="4994022"/>
            <a:ext cx="6713878" cy="452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63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Mentor</a:t>
            </a:r>
          </a:p>
          <a:p>
            <a:pPr algn="l">
              <a:lnSpc>
                <a:spcPts val="3929"/>
              </a:lnSpc>
            </a:pPr>
          </a:p>
          <a:p>
            <a:pPr algn="l">
              <a:lnSpc>
                <a:spcPts val="3929"/>
              </a:lnSpc>
            </a:pPr>
            <a:r>
              <a:rPr lang="en-US" sz="363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Monika R</a:t>
            </a:r>
            <a:r>
              <a:rPr lang="en-US" sz="36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3929"/>
              </a:lnSpc>
            </a:pPr>
          </a:p>
          <a:p>
            <a:pPr algn="l">
              <a:lnSpc>
                <a:spcPts val="4037"/>
              </a:lnSpc>
            </a:pPr>
            <a:r>
              <a:rPr lang="en-US" sz="373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Dept Electronics and Communication Engineering</a:t>
            </a:r>
          </a:p>
          <a:p>
            <a:pPr algn="l">
              <a:lnSpc>
                <a:spcPts val="3929"/>
              </a:lnSpc>
            </a:pPr>
          </a:p>
          <a:p>
            <a:pPr algn="l">
              <a:lnSpc>
                <a:spcPts val="3929"/>
              </a:lnSpc>
            </a:pPr>
          </a:p>
          <a:p>
            <a:pPr algn="l">
              <a:lnSpc>
                <a:spcPts val="392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445017" y="5940487"/>
            <a:ext cx="10067946" cy="331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7"/>
              </a:lnSpc>
            </a:pPr>
            <a:r>
              <a:rPr lang="en-US" sz="3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details ( with Reg No, Department)</a:t>
            </a:r>
          </a:p>
          <a:p>
            <a:pPr algn="just">
              <a:lnSpc>
                <a:spcPts val="3777"/>
              </a:lnSpc>
            </a:pPr>
            <a:r>
              <a:rPr lang="en-US" sz="3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GAJULA VISHNU VARDHAN (RA2411004010230)</a:t>
            </a:r>
          </a:p>
          <a:p>
            <a:pPr algn="just">
              <a:lnSpc>
                <a:spcPts val="3777"/>
              </a:lnSpc>
            </a:pPr>
            <a:r>
              <a:rPr lang="en-US" sz="3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SRIVIGNESH.B(RA2311004010587)</a:t>
            </a:r>
          </a:p>
          <a:p>
            <a:pPr algn="just">
              <a:lnSpc>
                <a:spcPts val="3777"/>
              </a:lnSpc>
            </a:pPr>
            <a:r>
              <a:rPr lang="en-US" sz="3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Dept Electronics and Communication Engineering</a:t>
            </a:r>
          </a:p>
          <a:p>
            <a:pPr algn="l">
              <a:lnSpc>
                <a:spcPts val="3777"/>
              </a:lnSpc>
            </a:pPr>
          </a:p>
          <a:p>
            <a:pPr algn="l">
              <a:lnSpc>
                <a:spcPts val="3777"/>
              </a:lnSpc>
            </a:pPr>
          </a:p>
          <a:p>
            <a:pPr algn="l">
              <a:lnSpc>
                <a:spcPts val="341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55097" y="177141"/>
            <a:ext cx="7978502" cy="39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UROP Project 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5017" y="110470"/>
            <a:ext cx="18288000" cy="54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n-US" sz="36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UR2526ECE753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15984" y="1103284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653879" y="1116075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15984" y="-616743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 &amp; Motivation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88" y="9808368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7280" y="1582169"/>
            <a:ext cx="16752020" cy="82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5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A. Problem Statement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underwater monitoring methods rely on human divers and fixed cameras, which are costly, risky, and unsuitable for continuous data collection.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low-cost underwater robots are limited to basic locomotion and simple video capture, lacking intelligent perception and environmental sensing capabilities.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an autonomous underwater system that combines efficient locomotion, real-time sensing, and intelligent perception.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focuses on designing a biomimetic robotic fish AUV capable of autonomous swimming, real-time temperature and pressure sensing, and intelligent underwater object detection using a YOLO-based deep learning model to identify marine organisms.</a:t>
            </a:r>
          </a:p>
          <a:p>
            <a:pPr algn="l">
              <a:lnSpc>
                <a:spcPts val="3080"/>
              </a:lnSpc>
            </a:pPr>
            <a:r>
              <a:rPr lang="en-US" sz="285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 Motivation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Marine ecosystems are increasingly impacted by pollution, climate change, and human activities.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underwater monitoring is essential for understanding and protecting these ecosystems.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monitoring methods provide only short-duration observations and involve high operational risks.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small autonomous robotic fish can operate silently for extended periods, minimizing disturbance to marine life.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integrating environmental sensors and real-time object detection, the proposed AUV acts as an intelligent underwater observer.</a:t>
            </a:r>
          </a:p>
          <a:p>
            <a:pPr algn="l" marL="615788" indent="-307894" lvl="1">
              <a:lnSpc>
                <a:spcPts val="3080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enables reliable and automated data collection for marine research, conservation, and underwater surveillance applications.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0366" y="1206329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90294" y="1219120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765009" y="-834401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Review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88" y="975253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49689" y="9739312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182542" y="811042"/>
          <a:ext cx="7543800" cy="4400550"/>
        </p:xfrm>
        <a:graphic>
          <a:graphicData uri="http://schemas.openxmlformats.org/presentationml/2006/ole">
            <p:oleObj imgW="9042400" imgH="5905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2084" y="871923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59979" y="827484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01311" y="-822722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 Adopted/ to be followed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252" y="1019448"/>
            <a:ext cx="18105505" cy="83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adopts a simulation-based methodology for the development of an underwater surveillance robotic fish.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fish-inspired robotic model is designed and implemented in the Gazebo simulation environment to enable safe, cost-effective, and repeatable testing without real-world risks.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Biomimetic swimming behavior is incorporated to replicate natural fish locomotion and ensure smooth and stable underwater navigation.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binocular vision system is simulated using two virtual cameras mounted symmetrically on the robotic fish body.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stereo camera configuration provides a wider field of view and improved environmental perception.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data captured by the cameras is processed using Python, and YOLOv8 implemented with PyTorch is used for real-time underwater object detection and classification.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vision techniques are applied for basic depth estimation, enabling distance measurement to nearby objects.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sensor data, including position and orientation information, supports navigation and obstacle awareness.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complete system is evaluated under various underwater simulation scenarios in Gazebo to analyze detection accuracy, perception capability, and overall system performance.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36095" y="990520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8" y="998548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57350" y="-616743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done so far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3509" y="1702540"/>
            <a:ext cx="17668711" cy="783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Fish-Inspired Motion and Control Framework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biologically inspired swimming motion models in both 2D and 3D to replicate natural fish locomotion.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Modeled smooth depth variations and sensor noise to closely reflect real-world underwater operating conditions.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an Extended Kalman Filter (EKF) for robust state estimation under noisy sensor measurements.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PID-based depth control and waypoint navigation algorithms to ensure stable and accurate motion control.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Incorporated ocean current effects into the motion model to achieve drift-compensated and realistic underwater movement.</a:t>
            </a:r>
          </a:p>
          <a:p>
            <a:pPr algn="l">
              <a:lnSpc>
                <a:spcPts val="3279"/>
              </a:lnSpc>
            </a:pPr>
            <a:r>
              <a:rPr lang="en-US" sz="273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Perception and Vision Foundations</a:t>
            </a:r>
          </a:p>
          <a:p>
            <a:pPr algn="l" marL="610850" indent="-305425" lvl="1">
              <a:lnSpc>
                <a:spcPts val="3395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the complete YOLO object detection pipeline with a focus on its application to underwater visual scenes.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YOLO-based object detection models and analyzed bounding box predictions for various underwater objects.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confidence scores and identified detection limitations under challenging conditions such as low visibility, motion blur, and lighting variations.</a:t>
            </a:r>
          </a:p>
          <a:p>
            <a:pPr algn="l">
              <a:lnSpc>
                <a:spcPts val="3279"/>
              </a:lnSpc>
            </a:pPr>
            <a:r>
              <a:rPr lang="en-US" sz="273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and Development Setup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 a Python-based development environment using Visual Studio Code on a Windows platform.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Installed, configured, and validated essential libraries including OpenCV and NumPy for image processing and numerical computation.</a:t>
            </a:r>
          </a:p>
          <a:p>
            <a:pPr algn="l" marL="589992" indent="-294996" lvl="1">
              <a:lnSpc>
                <a:spcPts val="3279"/>
              </a:lnSpc>
              <a:buFont typeface="Arial"/>
              <a:buChar char="•"/>
            </a:pPr>
            <a:r>
              <a:rPr lang="en-US" sz="2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Reviewed the end-to-end detection code workflow and resolved dependency and compatibility issues to ensure stable execution.</a:t>
            </a:r>
          </a:p>
          <a:p>
            <a:pPr algn="l">
              <a:lnSpc>
                <a:spcPts val="327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26700" y="1042987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371874" y="998548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872774" y="-616743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 &amp; Discussion ( if any)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286117"/>
            <a:ext cx="16414088" cy="80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binocular vision system provides superior situational awareness compared to a single-camera configuration by offering a wider field of view and improved perception of the surrounding environment.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approaching from lateral directions are detected more reliably, which is crucial for effective underwater surveillance and navigation.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biomimetic fish-like swimming mechanism produces smooth and stable motion, closely resembling natural fish locomotion.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natural swimming behavior enables efficient maneuvering and maintains stability during movement in the underwater environment.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locomotion reduces visual disturbances, leading to improved image quality and more consistent object detection performance.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YOLOv8 deep learning model successfully detects and labels underwater objects in real time within the simulated environment.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integration of AI-based object detection, biomimetic locomotion, and binocular vision enhances obstacle avoidance capability and overall navigation efficiency.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combined system demonstrates improved reliability and robustness during autonomous operation.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results confirm that integrating natural fish motion with intelligent stereo vision significantly improves the performance of autonomous underwater surveillance systems.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73" y="938053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02929" y="1033462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-615939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to be done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0" y="1589333"/>
            <a:ext cx="18288000" cy="707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Future Scope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fabricate a physical biomimetic robotic fish prototype based on the simulated model.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and integrate waterproof low-light cameras suitable for underwater binocular vision.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proper camera housing and optical window design to reduce refraction and distortion underwater.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 temperature and pressure sensors with the onboard control system for environmental monitoring.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image enhancement techniques such as underwater color correction, dehazing, and contrast enhancement to improve visual quality.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 the YOLO-based object detection model using real underwater image datasets captured from the prototype.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real-time stereo depth estimation using calibrated binocular camera data.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the perception and control algorithms to an embedded computing platform such as Raspberry Pi or NVIDIA Jetson.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pool or controlled water-tank experiments to validate swimming stability, perception accuracy, and detection performance.</a:t>
            </a:r>
          </a:p>
          <a:p>
            <a:pPr algn="l" marL="668508" indent="-334254" lvl="1">
              <a:lnSpc>
                <a:spcPts val="3715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the system to include acoustic or sonar sensors for perception in low-visibility underwater conditions.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460">
            <a:off x="1626603" y="1814512"/>
            <a:ext cx="15034803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820">
            <a:off x="1645596" y="1950644"/>
            <a:ext cx="1499680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57350" y="114300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Contribution of each student team member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88959" y="2400302"/>
            <a:ext cx="7669292" cy="7134223"/>
            <a:chOff x="0" y="0"/>
            <a:chExt cx="9829800" cy="91439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29800" cy="9143998"/>
            </a:xfrm>
            <a:custGeom>
              <a:avLst/>
              <a:gdLst/>
              <a:ahLst/>
              <a:cxnLst/>
              <a:rect r="r" b="b" t="t" l="l"/>
              <a:pathLst>
                <a:path h="9143998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9143998"/>
                  </a:lnTo>
                  <a:lnTo>
                    <a:pt x="0" y="9143998"/>
                  </a:lnTo>
                  <a:close/>
                </a:path>
              </a:pathLst>
            </a:custGeom>
            <a:solidFill>
              <a:srgbClr val="FFBD59">
                <a:alpha val="2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9829800" cy="913447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275074"/>
            <a:ext cx="7372350" cy="7259451"/>
            <a:chOff x="0" y="0"/>
            <a:chExt cx="9829800" cy="96792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29800" cy="9679268"/>
            </a:xfrm>
            <a:custGeom>
              <a:avLst/>
              <a:gdLst/>
              <a:ahLst/>
              <a:cxnLst/>
              <a:rect r="r" b="b" t="t" l="l"/>
              <a:pathLst>
                <a:path h="9679268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9679268"/>
                  </a:lnTo>
                  <a:lnTo>
                    <a:pt x="0" y="9679268"/>
                  </a:lnTo>
                  <a:close/>
                </a:path>
              </a:pathLst>
            </a:custGeom>
            <a:solidFill>
              <a:srgbClr val="FF751F">
                <a:alpha val="2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9829800" cy="966974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object detection fundamentals and compared traditional computer vision with deep learning–based methods.</a:t>
              </a:r>
            </a:p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Understood the YOLO algorithm for real-time object detection.</a:t>
              </a:r>
            </a:p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Set up the Python environment in VS Code and configured required libraries (OpenCV, NumPy).</a:t>
              </a:r>
            </a:p>
            <a:p>
              <a:pPr algn="l" marL="561022" indent="-280511" lvl="1">
                <a:lnSpc>
                  <a:spcPts val="3347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Organized YOLO files (config, class labels, pre-trained weights) and analyzed the detection pipeline.</a:t>
              </a:r>
            </a:p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ran YOLO-based object detection on sample images and validated outputs.</a:t>
              </a:r>
            </a:p>
            <a:p>
              <a:pPr algn="l" marL="542925" indent="-271462" lvl="1">
                <a:lnSpc>
                  <a:spcPts val="324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Resolved environment and dependency issues during implementation.</a:t>
              </a:r>
            </a:p>
            <a:p>
              <a:pPr algn="l" marL="542925" indent="-271462" lvl="1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24230" y="2409844"/>
            <a:ext cx="7198751" cy="712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level-wise AUV simulation framework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basic 2D motion to advanced 3D navigation.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2D and 3D AUV motion models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heading, speed, and depth variation.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Modeled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 noise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generated noisy measurements to reflect real-world conditions.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and implemented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Extended Kalman Filter (EKF)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AUV state estimation.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Performed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range-only EKF localization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fixed underwater beacons.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the impact of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 noise and time-varying ocean currents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AUV trajectories.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waypoint navigation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PID-based depth control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AUV.</a:t>
            </a:r>
          </a:p>
          <a:p>
            <a:pPr algn="l" marL="573908" indent="-286954" lvl="1">
              <a:lnSpc>
                <a:spcPts val="3189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results using </a:t>
            </a:r>
            <a:r>
              <a:rPr lang="en-US" b="true" sz="26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2D and 3D plots</a:t>
            </a:r>
            <a:r>
              <a:rPr lang="en-US" sz="26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performance analysis.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460">
            <a:off x="1626603" y="1814512"/>
            <a:ext cx="15034803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820">
            <a:off x="1645596" y="1950644"/>
            <a:ext cx="1499680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57350" y="114300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Progress( Highlight your status of completion)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81779" y="3075832"/>
            <a:ext cx="2298840" cy="1536497"/>
            <a:chOff x="0" y="0"/>
            <a:chExt cx="3065120" cy="2048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48073" y="3075832"/>
            <a:ext cx="1932546" cy="1536496"/>
            <a:chOff x="0" y="0"/>
            <a:chExt cx="2576728" cy="2048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Review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81779" y="4602804"/>
            <a:ext cx="2298840" cy="1536497"/>
            <a:chOff x="0" y="0"/>
            <a:chExt cx="3065120" cy="20486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248073" y="4602804"/>
            <a:ext cx="1932546" cy="1536496"/>
            <a:chOff x="0" y="0"/>
            <a:chExt cx="2576728" cy="20486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gap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81779" y="6129776"/>
            <a:ext cx="2298840" cy="1536497"/>
            <a:chOff x="0" y="0"/>
            <a:chExt cx="3065120" cy="20486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48073" y="6129776"/>
            <a:ext cx="1932546" cy="1536496"/>
            <a:chOff x="0" y="0"/>
            <a:chExt cx="2576728" cy="20486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identification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881779" y="7656747"/>
            <a:ext cx="2298840" cy="1536497"/>
            <a:chOff x="0" y="0"/>
            <a:chExt cx="3065120" cy="20486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248073" y="7656747"/>
            <a:ext cx="1932546" cy="1536496"/>
            <a:chOff x="0" y="0"/>
            <a:chExt cx="2576728" cy="20486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 formulation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65570" y="2470109"/>
            <a:ext cx="1526210" cy="1526210"/>
            <a:chOff x="0" y="0"/>
            <a:chExt cx="2034946" cy="20349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5048" cy="2035048"/>
            </a:xfrm>
            <a:custGeom>
              <a:avLst/>
              <a:gdLst/>
              <a:ahLst/>
              <a:cxnLst/>
              <a:rect r="r" b="b" t="t" l="l"/>
              <a:pathLst>
                <a:path h="2035048" w="2035048">
                  <a:moveTo>
                    <a:pt x="0" y="1017524"/>
                  </a:moveTo>
                  <a:cubicBezTo>
                    <a:pt x="0" y="455549"/>
                    <a:pt x="455549" y="0"/>
                    <a:pt x="1017524" y="0"/>
                  </a:cubicBezTo>
                  <a:cubicBezTo>
                    <a:pt x="1579499" y="0"/>
                    <a:pt x="2035048" y="455549"/>
                    <a:pt x="2035048" y="1017524"/>
                  </a:cubicBezTo>
                  <a:cubicBezTo>
                    <a:pt x="2035048" y="1579499"/>
                    <a:pt x="1579499" y="2035048"/>
                    <a:pt x="1017524" y="2035048"/>
                  </a:cubicBezTo>
                  <a:cubicBezTo>
                    <a:pt x="455549" y="2035048"/>
                    <a:pt x="0" y="1579372"/>
                    <a:pt x="0" y="1017524"/>
                  </a:cubicBezTo>
                  <a:close/>
                </a:path>
              </a:pathLst>
            </a:custGeom>
            <a:solidFill>
              <a:srgbClr val="A6BB8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884321" y="2688860"/>
            <a:ext cx="1088717" cy="1088718"/>
            <a:chOff x="0" y="0"/>
            <a:chExt cx="1451623" cy="14516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51624" cy="1451625"/>
            </a:xfrm>
            <a:custGeom>
              <a:avLst/>
              <a:gdLst/>
              <a:ahLst/>
              <a:cxnLst/>
              <a:rect r="r" b="b" t="t" l="l"/>
              <a:pathLst>
                <a:path h="1451625" w="1451624">
                  <a:moveTo>
                    <a:pt x="0" y="0"/>
                  </a:moveTo>
                  <a:lnTo>
                    <a:pt x="1451624" y="0"/>
                  </a:lnTo>
                  <a:lnTo>
                    <a:pt x="1451624" y="1451625"/>
                  </a:lnTo>
                  <a:lnTo>
                    <a:pt x="0" y="1451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1451623" cy="144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Phase1</a:t>
              </a:r>
            </a:p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10% 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97304" y="3075832"/>
            <a:ext cx="2298840" cy="1536497"/>
            <a:chOff x="0" y="0"/>
            <a:chExt cx="3065120" cy="20486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063597" y="3075832"/>
            <a:ext cx="1932546" cy="1536496"/>
            <a:chOff x="0" y="0"/>
            <a:chExt cx="2576728" cy="20486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Modelling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97304" y="4602804"/>
            <a:ext cx="2298840" cy="1536497"/>
            <a:chOff x="0" y="0"/>
            <a:chExt cx="3065120" cy="20486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63597" y="4602804"/>
            <a:ext cx="1932546" cy="1536496"/>
            <a:chOff x="0" y="0"/>
            <a:chExt cx="2576728" cy="20486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726469" y="6129776"/>
            <a:ext cx="2298840" cy="1536497"/>
            <a:chOff x="0" y="0"/>
            <a:chExt cx="3065120" cy="20486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092753" y="6129776"/>
            <a:ext cx="1932546" cy="1536496"/>
            <a:chOff x="0" y="0"/>
            <a:chExt cx="2576728" cy="204866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Experiment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481095" y="2470109"/>
            <a:ext cx="1526210" cy="1526210"/>
            <a:chOff x="0" y="0"/>
            <a:chExt cx="2034946" cy="203494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35048" cy="2035048"/>
            </a:xfrm>
            <a:custGeom>
              <a:avLst/>
              <a:gdLst/>
              <a:ahLst/>
              <a:cxnLst/>
              <a:rect r="r" b="b" t="t" l="l"/>
              <a:pathLst>
                <a:path h="2035048" w="2035048">
                  <a:moveTo>
                    <a:pt x="0" y="1017524"/>
                  </a:moveTo>
                  <a:cubicBezTo>
                    <a:pt x="0" y="455549"/>
                    <a:pt x="455549" y="0"/>
                    <a:pt x="1017524" y="0"/>
                  </a:cubicBezTo>
                  <a:cubicBezTo>
                    <a:pt x="1579499" y="0"/>
                    <a:pt x="2035048" y="455549"/>
                    <a:pt x="2035048" y="1017524"/>
                  </a:cubicBezTo>
                  <a:cubicBezTo>
                    <a:pt x="2035048" y="1579499"/>
                    <a:pt x="1579499" y="2035048"/>
                    <a:pt x="1017524" y="2035048"/>
                  </a:cubicBezTo>
                  <a:cubicBezTo>
                    <a:pt x="455549" y="2035048"/>
                    <a:pt x="0" y="1579372"/>
                    <a:pt x="0" y="1017524"/>
                  </a:cubicBezTo>
                  <a:close/>
                </a:path>
              </a:pathLst>
            </a:custGeom>
            <a:solidFill>
              <a:srgbClr val="A6BB8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699846" y="2688860"/>
            <a:ext cx="1088717" cy="1088718"/>
            <a:chOff x="0" y="0"/>
            <a:chExt cx="1451623" cy="14516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51624" cy="1451625"/>
            </a:xfrm>
            <a:custGeom>
              <a:avLst/>
              <a:gdLst/>
              <a:ahLst/>
              <a:cxnLst/>
              <a:rect r="r" b="b" t="t" l="l"/>
              <a:pathLst>
                <a:path h="1451625" w="1451624">
                  <a:moveTo>
                    <a:pt x="0" y="0"/>
                  </a:moveTo>
                  <a:lnTo>
                    <a:pt x="1451624" y="0"/>
                  </a:lnTo>
                  <a:lnTo>
                    <a:pt x="1451624" y="1451625"/>
                  </a:lnTo>
                  <a:lnTo>
                    <a:pt x="0" y="1451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1451623" cy="144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Phase 2 30%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512828" y="3075832"/>
            <a:ext cx="2298840" cy="1536497"/>
            <a:chOff x="0" y="0"/>
            <a:chExt cx="3065120" cy="204866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879112" y="3075832"/>
            <a:ext cx="1932546" cy="1536496"/>
            <a:chOff x="0" y="0"/>
            <a:chExt cx="2576728" cy="204866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12828" y="4602804"/>
            <a:ext cx="2298840" cy="1536497"/>
            <a:chOff x="0" y="0"/>
            <a:chExt cx="3065120" cy="204866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879112" y="4602804"/>
            <a:ext cx="1932546" cy="1536496"/>
            <a:chOff x="0" y="0"/>
            <a:chExt cx="2576728" cy="204866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drafting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96619" y="2470109"/>
            <a:ext cx="1526210" cy="1526210"/>
            <a:chOff x="0" y="0"/>
            <a:chExt cx="2034946" cy="203494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35048" cy="2035048"/>
            </a:xfrm>
            <a:custGeom>
              <a:avLst/>
              <a:gdLst/>
              <a:ahLst/>
              <a:cxnLst/>
              <a:rect r="r" b="b" t="t" l="l"/>
              <a:pathLst>
                <a:path h="2035048" w="2035048">
                  <a:moveTo>
                    <a:pt x="0" y="1017524"/>
                  </a:moveTo>
                  <a:cubicBezTo>
                    <a:pt x="0" y="455549"/>
                    <a:pt x="455549" y="0"/>
                    <a:pt x="1017524" y="0"/>
                  </a:cubicBezTo>
                  <a:cubicBezTo>
                    <a:pt x="1579499" y="0"/>
                    <a:pt x="2035048" y="455549"/>
                    <a:pt x="2035048" y="1017524"/>
                  </a:cubicBezTo>
                  <a:cubicBezTo>
                    <a:pt x="2035048" y="1579499"/>
                    <a:pt x="1579499" y="2035048"/>
                    <a:pt x="1017524" y="2035048"/>
                  </a:cubicBezTo>
                  <a:cubicBezTo>
                    <a:pt x="455549" y="2035048"/>
                    <a:pt x="0" y="1579372"/>
                    <a:pt x="0" y="1017524"/>
                  </a:cubicBezTo>
                  <a:close/>
                </a:path>
              </a:pathLst>
            </a:custGeom>
            <a:solidFill>
              <a:srgbClr val="A6BB8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515370" y="2688860"/>
            <a:ext cx="1088717" cy="1088718"/>
            <a:chOff x="0" y="0"/>
            <a:chExt cx="1451623" cy="14516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51624" cy="1451625"/>
            </a:xfrm>
            <a:custGeom>
              <a:avLst/>
              <a:gdLst/>
              <a:ahLst/>
              <a:cxnLst/>
              <a:rect r="r" b="b" t="t" l="l"/>
              <a:pathLst>
                <a:path h="1451625" w="1451624">
                  <a:moveTo>
                    <a:pt x="0" y="0"/>
                  </a:moveTo>
                  <a:lnTo>
                    <a:pt x="1451624" y="0"/>
                  </a:lnTo>
                  <a:lnTo>
                    <a:pt x="1451624" y="1451625"/>
                  </a:lnTo>
                  <a:lnTo>
                    <a:pt x="0" y="1451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9525"/>
              <a:ext cx="1451623" cy="144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Phase 3 50%-70%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328353" y="3075832"/>
            <a:ext cx="2298840" cy="1536497"/>
            <a:chOff x="0" y="0"/>
            <a:chExt cx="3065120" cy="204866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694637" y="3075832"/>
            <a:ext cx="1932546" cy="1536496"/>
            <a:chOff x="0" y="0"/>
            <a:chExt cx="2576728" cy="204866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Submitted to Journal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328353" y="4602804"/>
            <a:ext cx="2298840" cy="1536497"/>
            <a:chOff x="0" y="0"/>
            <a:chExt cx="3065120" cy="204866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6350" y="6350"/>
              <a:ext cx="3052445" cy="2035937"/>
            </a:xfrm>
            <a:custGeom>
              <a:avLst/>
              <a:gdLst/>
              <a:ahLst/>
              <a:cxnLst/>
              <a:rect r="r" b="b" t="t" l="l"/>
              <a:pathLst>
                <a:path h="2035937" w="3052445">
                  <a:moveTo>
                    <a:pt x="0" y="0"/>
                  </a:moveTo>
                  <a:lnTo>
                    <a:pt x="3052445" y="0"/>
                  </a:lnTo>
                  <a:lnTo>
                    <a:pt x="3052445" y="2035937"/>
                  </a:lnTo>
                  <a:lnTo>
                    <a:pt x="0" y="2035937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65145" cy="2048637"/>
            </a:xfrm>
            <a:custGeom>
              <a:avLst/>
              <a:gdLst/>
              <a:ahLst/>
              <a:cxnLst/>
              <a:rect r="r" b="b" t="t" l="l"/>
              <a:pathLst>
                <a:path h="2048637" w="3065145">
                  <a:moveTo>
                    <a:pt x="6350" y="0"/>
                  </a:moveTo>
                  <a:lnTo>
                    <a:pt x="3058795" y="0"/>
                  </a:lnTo>
                  <a:cubicBezTo>
                    <a:pt x="3062351" y="0"/>
                    <a:pt x="3065145" y="2794"/>
                    <a:pt x="3065145" y="6350"/>
                  </a:cubicBezTo>
                  <a:lnTo>
                    <a:pt x="3065145" y="2042287"/>
                  </a:lnTo>
                  <a:cubicBezTo>
                    <a:pt x="3065145" y="2045843"/>
                    <a:pt x="3062351" y="2048637"/>
                    <a:pt x="3058795" y="2048637"/>
                  </a:cubicBezTo>
                  <a:lnTo>
                    <a:pt x="6350" y="2048637"/>
                  </a:lnTo>
                  <a:cubicBezTo>
                    <a:pt x="2794" y="2048637"/>
                    <a:pt x="0" y="2045843"/>
                    <a:pt x="0" y="20422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42287"/>
                  </a:lnTo>
                  <a:lnTo>
                    <a:pt x="6350" y="2042287"/>
                  </a:lnTo>
                  <a:lnTo>
                    <a:pt x="6350" y="2035937"/>
                  </a:lnTo>
                  <a:lnTo>
                    <a:pt x="3058795" y="2035937"/>
                  </a:lnTo>
                  <a:lnTo>
                    <a:pt x="3058795" y="2042287"/>
                  </a:lnTo>
                  <a:lnTo>
                    <a:pt x="3052445" y="2042287"/>
                  </a:lnTo>
                  <a:lnTo>
                    <a:pt x="3052445" y="6350"/>
                  </a:lnTo>
                  <a:lnTo>
                    <a:pt x="3058795" y="6350"/>
                  </a:lnTo>
                  <a:lnTo>
                    <a:pt x="305879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1E5DC">
                <a:alpha val="80784"/>
              </a:srgbClr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4694637" y="4602804"/>
            <a:ext cx="1932546" cy="1536496"/>
            <a:chOff x="0" y="0"/>
            <a:chExt cx="2576728" cy="204866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76730" cy="2048662"/>
            </a:xfrm>
            <a:custGeom>
              <a:avLst/>
              <a:gdLst/>
              <a:ahLst/>
              <a:cxnLst/>
              <a:rect r="r" b="b" t="t" l="l"/>
              <a:pathLst>
                <a:path h="2048662" w="2576730">
                  <a:moveTo>
                    <a:pt x="0" y="0"/>
                  </a:moveTo>
                  <a:lnTo>
                    <a:pt x="2576730" y="0"/>
                  </a:lnTo>
                  <a:lnTo>
                    <a:pt x="2576730" y="2048662"/>
                  </a:lnTo>
                  <a:lnTo>
                    <a:pt x="0" y="2048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009" t="0" r="-5200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9525"/>
              <a:ext cx="2576728" cy="2039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 Review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112144" y="2470109"/>
            <a:ext cx="1526210" cy="1526210"/>
            <a:chOff x="0" y="0"/>
            <a:chExt cx="2034946" cy="203494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35048" cy="2035048"/>
            </a:xfrm>
            <a:custGeom>
              <a:avLst/>
              <a:gdLst/>
              <a:ahLst/>
              <a:cxnLst/>
              <a:rect r="r" b="b" t="t" l="l"/>
              <a:pathLst>
                <a:path h="2035048" w="2035048">
                  <a:moveTo>
                    <a:pt x="0" y="1017524"/>
                  </a:moveTo>
                  <a:cubicBezTo>
                    <a:pt x="0" y="455549"/>
                    <a:pt x="455549" y="0"/>
                    <a:pt x="1017524" y="0"/>
                  </a:cubicBezTo>
                  <a:cubicBezTo>
                    <a:pt x="1579499" y="0"/>
                    <a:pt x="2035048" y="455549"/>
                    <a:pt x="2035048" y="1017524"/>
                  </a:cubicBezTo>
                  <a:cubicBezTo>
                    <a:pt x="2035048" y="1579499"/>
                    <a:pt x="1579499" y="2035048"/>
                    <a:pt x="1017524" y="2035048"/>
                  </a:cubicBezTo>
                  <a:cubicBezTo>
                    <a:pt x="455549" y="2035048"/>
                    <a:pt x="0" y="1579372"/>
                    <a:pt x="0" y="1017524"/>
                  </a:cubicBezTo>
                  <a:close/>
                </a:path>
              </a:pathLst>
            </a:custGeom>
            <a:solidFill>
              <a:srgbClr val="A6BB8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330885" y="2688860"/>
            <a:ext cx="1088717" cy="1088718"/>
            <a:chOff x="0" y="0"/>
            <a:chExt cx="1451623" cy="14516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51624" cy="1451625"/>
            </a:xfrm>
            <a:custGeom>
              <a:avLst/>
              <a:gdLst/>
              <a:ahLst/>
              <a:cxnLst/>
              <a:rect r="r" b="b" t="t" l="l"/>
              <a:pathLst>
                <a:path h="1451625" w="1451624">
                  <a:moveTo>
                    <a:pt x="0" y="0"/>
                  </a:moveTo>
                  <a:lnTo>
                    <a:pt x="1451624" y="0"/>
                  </a:lnTo>
                  <a:lnTo>
                    <a:pt x="1451624" y="1451625"/>
                  </a:lnTo>
                  <a:lnTo>
                    <a:pt x="0" y="1451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1451623" cy="144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Phase 4 -80%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93692" y="1152045"/>
            <a:ext cx="15034609" cy="7636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3700" y="1156808"/>
            <a:ext cx="14996786" cy="2538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57350" y="-402750"/>
            <a:ext cx="14971024" cy="1645443"/>
            <a:chOff x="0" y="0"/>
            <a:chExt cx="19961365" cy="2193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1365" cy="2193923"/>
            </a:xfrm>
            <a:custGeom>
              <a:avLst/>
              <a:gdLst/>
              <a:ahLst/>
              <a:cxnLst/>
              <a:rect r="r" b="b" t="t" l="l"/>
              <a:pathLst>
                <a:path h="2193923" w="19961365">
                  <a:moveTo>
                    <a:pt x="0" y="0"/>
                  </a:moveTo>
                  <a:lnTo>
                    <a:pt x="19961365" y="0"/>
                  </a:lnTo>
                  <a:lnTo>
                    <a:pt x="19961365" y="2193923"/>
                  </a:lnTo>
                  <a:lnTo>
                    <a:pt x="0" y="2193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84" r="0" b="-1272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961365" cy="216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1693" y="9534525"/>
            <a:ext cx="9484624" cy="547689"/>
            <a:chOff x="0" y="0"/>
            <a:chExt cx="12646165" cy="730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6164" cy="730254"/>
            </a:xfrm>
            <a:custGeom>
              <a:avLst/>
              <a:gdLst/>
              <a:ahLst/>
              <a:cxnLst/>
              <a:rect r="r" b="b" t="t" l="l"/>
              <a:pathLst>
                <a:path h="730254" w="12646164">
                  <a:moveTo>
                    <a:pt x="0" y="0"/>
                  </a:moveTo>
                  <a:lnTo>
                    <a:pt x="12646164" y="0"/>
                  </a:lnTo>
                  <a:lnTo>
                    <a:pt x="12646164" y="730254"/>
                  </a:lnTo>
                  <a:lnTo>
                    <a:pt x="0" y="7302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432" r="0" b="-2874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646165" cy="74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UROP Review Meeting -AY 2025-26 ODD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5174" y="9534525"/>
            <a:ext cx="2743200" cy="547688"/>
            <a:chOff x="0" y="0"/>
            <a:chExt cx="3657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30250"/>
            </a:xfrm>
            <a:custGeom>
              <a:avLst/>
              <a:gdLst/>
              <a:ahLst/>
              <a:cxnLst/>
              <a:rect r="r" b="b" t="t" l="l"/>
              <a:pathLst>
                <a:path h="7302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94" r="0" b="-475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5382" y="1214118"/>
            <a:ext cx="17100729" cy="6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J. Yu, L. Wang, and M. Tan, “A survey on CPG-inspired control models and system implementation,” IEEE Transactions on Neural Networks, vol. 25, no. 3, pp. 441–456, 2014.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J. Yu, Z. Wu, and M. Tan, “Biomimetic robotic fish: Design, modeling, and experiments,” Journal of Intelligent &amp; Robotic Systems, vol. 62, no. 3–4, pp. 363–381, 2011.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S. Negahdaripour and H. Madjidi, “Stereovision imaging on submersible platforms for 3-D mapping of benthic habitats,” IEEE Journal of Oceanic Engineering, vol. 28, no. 4, pp. 625–650, 2003.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A. Redmon et al., “You Only Look Once: Unified, real-time object detection,” Proceedings of the IEEE Conference on Computer Vision and Pattern Recognition (CVPR), pp. 779–788, 2016.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G. Jocher et al., “YOLOv8: Ultralytics object detection framework,” Ultralytics, 2023.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[Online]. Available: https://ultralytics.com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N. Koenig and A. Howard, “Design and use paradigms for Gazebo, an open-source multi-robot simulator,” IEEE/RSJ International Conference on Intelligent Robots and Systems (IROS), pp. 2149–2154, 2004.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DAHAz53KGDQ</dc:identifier>
  <dcterms:modified xsi:type="dcterms:W3CDTF">2011-08-01T06:04:30Z</dcterms:modified>
  <cp:revision>1</cp:revision>
  <dc:title>UROP Project review template.pptx</dc:title>
</cp:coreProperties>
</file>